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01168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E6EDF3"/>
                </a:solidFill>
                <a:latin typeface="Calibri"/>
              </a:rPr>
              <a:t>TimeGrapher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1752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58A6FF"/>
                </a:solidFill>
                <a:latin typeface="Calibri"/>
              </a:rPr>
              <a:t>From Tick to Trace: Real-Time Acoustic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6576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B949E"/>
                </a:solidFill>
                <a:latin typeface="Calibri"/>
              </a:rPr>
              <a:t>Final Demonstration — Milestone 3  |  July 1,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1148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  <a:latin typeface="Calibri"/>
              </a:rPr>
              <a:t>Blue Sky · Team 3  |  LG SW Architect Training Program × CMU MSE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663440"/>
            <a:ext cx="9418320" cy="18288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Blue Sky (Team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B949E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6EDF3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457200" cy="4572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6EDF3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188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6EDF3"/>
                </a:solidFill>
                <a:latin typeface="Calibri"/>
              </a:rPr>
              <a:t>QA Requirements &amp; Tradeoffs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57400"/>
            <a:ext cx="457200" cy="4572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0116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6EDF3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6EDF3"/>
                </a:solidFill>
                <a:latin typeface="Calibri"/>
              </a:rPr>
              <a:t>Architecture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880360"/>
            <a:ext cx="457200" cy="4572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8346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6EDF3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834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6EDF3"/>
                </a:solidFill>
                <a:latin typeface="Calibri"/>
              </a:rPr>
              <a:t>Experiments &amp; Evaluation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03320"/>
            <a:ext cx="457200" cy="4572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6576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6EDF3"/>
                </a:solidFill>
                <a:latin typeface="Calibr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6EDF3"/>
                </a:solidFill>
                <a:latin typeface="Calibri"/>
              </a:rPr>
              <a:t>Use of AI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526280"/>
            <a:ext cx="457200" cy="4572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480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6EDF3"/>
                </a:solidFill>
                <a:latin typeface="Calibr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4805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6EDF3"/>
                </a:solidFill>
                <a:latin typeface="Calibri"/>
              </a:rPr>
              <a:t>Lessons Learned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B949E"/>
                </a:solidFill>
                <a:latin typeface="Calibri"/>
              </a:rPr>
              <a:t>Graphs · GUI enhancements · Bonus features  →  demonstrated live on Raspberry Pi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Blue Sky (Team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B949E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01 / QA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6EDF3"/>
                </a:solidFill>
                <a:latin typeface="Calibri"/>
              </a:rPr>
              <a:t>Quality Attribute Priorities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1645920" cy="365760"/>
          </a:xfrm>
          <a:prstGeom prst="rect">
            <a:avLst/>
          </a:prstGeom>
          <a:solidFill>
            <a:srgbClr val="212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97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949E"/>
                </a:solidFill>
                <a:latin typeface="Calibri"/>
              </a:rPr>
              <a:t>Priority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1097280"/>
            <a:ext cx="2926080" cy="365760"/>
          </a:xfrm>
          <a:prstGeom prst="rect">
            <a:avLst/>
          </a:prstGeom>
          <a:solidFill>
            <a:srgbClr val="212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097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949E"/>
                </a:solidFill>
                <a:latin typeface="Calibri"/>
              </a:rPr>
              <a:t>Quality Attribute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097280"/>
            <a:ext cx="6400800" cy="365760"/>
          </a:xfrm>
          <a:prstGeom prst="rect">
            <a:avLst/>
          </a:prstGeom>
          <a:solidFill>
            <a:srgbClr val="212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0" y="1097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949E"/>
                </a:solidFill>
                <a:latin typeface="Calibri"/>
              </a:rPr>
              <a:t>Why It Matters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1645920" cy="70408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508760"/>
            <a:ext cx="1554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  <a:latin typeface="Calibri"/>
              </a:rPr>
              <a:t>1st — GOVERNING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0" y="1463040"/>
            <a:ext cx="2926080" cy="70408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84832" y="1508760"/>
            <a:ext cx="2834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alibri"/>
              </a:rPr>
              <a:t>Measurement Accuracy (QAS-1)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1463040"/>
            <a:ext cx="6400800" cy="70408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02352" y="15087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alibri"/>
              </a:rPr>
              <a:t>The reason the system exists. Every other QA serves this one.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212848"/>
            <a:ext cx="1645920" cy="70408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2258568"/>
            <a:ext cx="1554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  <a:latin typeface="Calibri"/>
              </a:rPr>
              <a:t>2nd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1680" y="2212848"/>
            <a:ext cx="2926080" cy="70408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84832" y="2258568"/>
            <a:ext cx="2834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alibri"/>
              </a:rPr>
              <a:t>Real-Time Performance (QAS-2)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2212848"/>
            <a:ext cx="6400800" cy="70408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02352" y="225856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alibri"/>
              </a:rPr>
              <a:t>21ms audio deadline per block — must never be missed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962656"/>
            <a:ext cx="1645920" cy="70408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3008376"/>
            <a:ext cx="1554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  <a:latin typeface="Calibri"/>
              </a:rPr>
              <a:t>3rd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11680" y="2962656"/>
            <a:ext cx="2926080" cy="70408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84832" y="3008376"/>
            <a:ext cx="2834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alibri"/>
              </a:rPr>
              <a:t>Low Latency (QAS-3)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0" y="2962656"/>
            <a:ext cx="6400800" cy="70408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02352" y="300837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alibri"/>
              </a:rPr>
              <a:t>Beat capture → GUI update &lt; 100ms end-to-end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712464"/>
            <a:ext cx="1645920" cy="70408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" y="3758184"/>
            <a:ext cx="1554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  <a:latin typeface="Calibri"/>
              </a:rPr>
              <a:t>4th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11680" y="3712464"/>
            <a:ext cx="2926080" cy="70408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84832" y="3758184"/>
            <a:ext cx="2834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alibri"/>
              </a:rPr>
              <a:t>Extensibility (QAS-4)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0" y="3712464"/>
            <a:ext cx="6400800" cy="70408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02352" y="3758184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alibri"/>
              </a:rPr>
              <a:t>Add new graph tab in ≤ 3 files changed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462272"/>
            <a:ext cx="1645920" cy="70408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7472" y="4507992"/>
            <a:ext cx="1554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  <a:latin typeface="Calibri"/>
              </a:rPr>
              <a:t>5th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11680" y="4462272"/>
            <a:ext cx="2926080" cy="70408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84832" y="4507992"/>
            <a:ext cx="2834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alibri"/>
              </a:rPr>
              <a:t>Correctness (QAS-5)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0" y="4462272"/>
            <a:ext cx="6400800" cy="70408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02352" y="4507992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alibri"/>
              </a:rPr>
              <a:t>False trigger rate &lt; 1%, T1 detection rate &gt; 99%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B949E"/>
                </a:solidFill>
                <a:latin typeface="Calibri"/>
              </a:rPr>
              <a:t>Scope: 28,800 BPH mechanical watch measured against WeiShi No.1000 reference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Blue Sky (Team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B949E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01 / QA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6EDF3"/>
                </a:solidFill>
                <a:latin typeface="Calibri"/>
              </a:rPr>
              <a:t>Key Architectural Tradeoffs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3566160" cy="320040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  <a:latin typeface="Calibri"/>
              </a:rPr>
              <a:t>TP-1: 96kHz Sample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37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FB950"/>
                </a:solidFill>
                <a:latin typeface="Calibri"/>
              </a:rPr>
              <a:t>↑ Beat Error resolution (QAS-1)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402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5149"/>
                </a:solidFill>
                <a:latin typeface="Calibri"/>
              </a:rPr>
              <a:t>↑ CPU load risk (QAS-2)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3383280"/>
            <a:ext cx="3383280" cy="18288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34747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  <a:latin typeface="Calibri"/>
              </a:rPr>
              <a:t>EXP-02: 0 dropped blocks 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1097280"/>
            <a:ext cx="3566160" cy="320040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11887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  <a:latin typeface="Calibri"/>
              </a:rPr>
              <a:t>TP-2: Ring Buffer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1737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FB950"/>
                </a:solidFill>
                <a:latin typeface="Calibri"/>
              </a:rPr>
              <a:t>↑ DSP / GUI decoupled (QAS-2, 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22402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5149"/>
                </a:solidFill>
                <a:latin typeface="Calibri"/>
              </a:rPr>
              <a:t>+21ms propagation delay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0520" y="3383280"/>
            <a:ext cx="3383280" cy="18288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34747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  <a:latin typeface="Calibri"/>
              </a:rPr>
              <a:t>EXP-03: E2E 2.05ms 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18120" y="1097280"/>
            <a:ext cx="3566160" cy="320040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9560" y="11887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  <a:latin typeface="Calibri"/>
              </a:rPr>
              <a:t>TP-3: Lazy Rendering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1737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FB950"/>
                </a:solidFill>
                <a:latin typeface="Calibri"/>
              </a:rPr>
              <a:t>↑ 85% fewer render calls (QAS-2)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22402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5149"/>
                </a:solidFill>
                <a:latin typeface="Calibri"/>
              </a:rPr>
              <a:t>Non-visible tabs skip updates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09560" y="3383280"/>
            <a:ext cx="3383280" cy="18288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9560" y="34747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  <a:latin typeface="Calibri"/>
              </a:rPr>
              <a:t>Tab catches up on show() 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572000"/>
            <a:ext cx="5486400" cy="914400"/>
          </a:xfrm>
          <a:prstGeom prst="rect">
            <a:avLst/>
          </a:prstGeom>
          <a:solidFill>
            <a:srgbClr val="0D2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61772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FB950"/>
                </a:solidFill>
                <a:latin typeface="Calibri"/>
              </a:rPr>
              <a:t>✓ Deadline miss: 43% → 0%   ✓ E2E latency: 2.05ms   ✓ 0 dropped blocks at 96kHz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4572000"/>
            <a:ext cx="5852160" cy="914400"/>
          </a:xfrm>
          <a:prstGeom prst="rect">
            <a:avLst/>
          </a:prstGeom>
          <a:solidFill>
            <a:srgbClr val="2A1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4617720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883E"/>
                </a:solidFill>
                <a:latin typeface="Calibri"/>
              </a:rPr>
              <a:t>⚠ WeiShi accuracy: validated W5
⚠ Full 14-tab rendering: conditional on EXP-05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Blue Sky (Team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B949E"/>
                </a:solidFill>
                <a:latin typeface="Calibr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02 /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6EDF3"/>
                </a:solidFill>
                <a:latin typeface="Calibri"/>
              </a:rPr>
              <a:t>4-Layer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6400800" cy="914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430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117"/>
                </a:solidFill>
                <a:latin typeface="Calibri"/>
              </a:rPr>
              <a:t>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54480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117"/>
                </a:solidFill>
                <a:latin typeface="Calibri"/>
              </a:rPr>
              <a:t>Qt Widgets · Graph Tabs · UI Controls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011680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  <a:latin typeface="Calibri"/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48840"/>
            <a:ext cx="6400800" cy="9144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1945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117"/>
                </a:solidFill>
                <a:latin typeface="Calibri"/>
              </a:rPr>
              <a:t>DOMAIN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606040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117"/>
                </a:solidFill>
                <a:latin typeface="Calibri"/>
              </a:rPr>
              <a:t>MeasurementEngine · Value Objects · Observer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3063240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  <a:latin typeface="Calibri"/>
              </a:rP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200400"/>
            <a:ext cx="6400800" cy="91440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117"/>
                </a:solidFill>
                <a:latin typeface="Calibri"/>
              </a:rPr>
              <a:t>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657600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117"/>
                </a:solidFill>
                <a:latin typeface="Calibri"/>
              </a:rPr>
              <a:t>DSP Pipeline · BeatDetector · FilterChain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4114800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  <a:latin typeface="Calibri"/>
              </a:rPr>
              <a:t>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251960"/>
            <a:ext cx="6400800" cy="91440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42976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117"/>
                </a:solidFill>
                <a:latin typeface="Calibri"/>
              </a:rPr>
              <a:t>INFRASTRUCTURE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709160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117"/>
                </a:solidFill>
                <a:latin typeface="Calibri"/>
              </a:rPr>
              <a:t>AudioCapture · IAudioSource · ALSA / Qt Multimedia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10972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8A6FF"/>
                </a:solidFill>
                <a:latin typeface="Calibri"/>
              </a:rPr>
              <a:t>Key Design Properties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164592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6EDF3"/>
                </a:solidFill>
                <a:latin typeface="Calibri"/>
              </a:rPr>
              <a:t>• Compiler enforces layer boundaries — upward dependencies cause build failure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274320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6EDF3"/>
                </a:solidFill>
                <a:latin typeface="Calibri"/>
              </a:rPr>
              <a:t>• New graph tab: add ≤ 3 files in Presentation layer 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84048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6EDF3"/>
                </a:solidFill>
                <a:latin typeface="Calibri"/>
              </a:rPr>
              <a:t>• New audio source: implement IAudioSource — 2 files max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Blue Sky (Team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B949E"/>
                </a:solidFill>
                <a:latin typeface="Calibri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02 /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6EDF3"/>
                </a:solidFill>
                <a:latin typeface="Calibri"/>
              </a:rPr>
              <a:t>C&amp;C View: DSP Pipeline Thread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8A6FF"/>
                </a:solidFill>
                <a:latin typeface="Calibri"/>
              </a:rPr>
              <a:t>ADR-001  —  QAS-2 Real-Time Performance · QAS-3 Low Latency</a:t>
            </a:r>
          </a:p>
        </p:txBody>
      </p:sp>
      <p:pic>
        <p:nvPicPr>
          <p:cNvPr id="7" name="Picture 6" descr="view3-thread-model-si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7772400" cy="3200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321040" y="1371600"/>
            <a:ext cx="1371600" cy="502920"/>
          </a:xfrm>
          <a:prstGeom prst="rect">
            <a:avLst/>
          </a:prstGeom>
          <a:solidFill>
            <a:srgbClr val="212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137160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949E"/>
                </a:solidFill>
                <a:latin typeface="Calibri"/>
              </a:rPr>
              <a:t>Metric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92640" y="1371600"/>
            <a:ext cx="1097280" cy="502920"/>
          </a:xfrm>
          <a:prstGeom prst="rect">
            <a:avLst/>
          </a:prstGeom>
          <a:solidFill>
            <a:srgbClr val="212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38360" y="13716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949E"/>
                </a:solidFill>
                <a:latin typeface="Calibri"/>
              </a:rPr>
              <a:t>Before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89920" y="1371600"/>
            <a:ext cx="1737360" cy="502920"/>
          </a:xfrm>
          <a:prstGeom prst="rect">
            <a:avLst/>
          </a:prstGeom>
          <a:solidFill>
            <a:srgbClr val="212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35640" y="13716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949E"/>
                </a:solidFill>
                <a:latin typeface="Calibri"/>
              </a:rPr>
              <a:t>After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874520"/>
            <a:ext cx="1371600" cy="502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87452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wait_ms avg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92640" y="1874520"/>
            <a:ext cx="1097280" cy="502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8360" y="187452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77.4 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789920" y="1874520"/>
            <a:ext cx="1737360" cy="502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5640" y="18745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FB950"/>
                </a:solidFill>
                <a:latin typeface="Calibri"/>
              </a:rPr>
              <a:t>0.03 ms (×2,600)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2377440"/>
            <a:ext cx="1371600" cy="502920"/>
          </a:xfrm>
          <a:prstGeom prst="rect">
            <a:avLst/>
          </a:prstGeom>
          <a:solidFill>
            <a:srgbClr val="1A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23774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Deadline miss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92640" y="2377440"/>
            <a:ext cx="1097280" cy="502920"/>
          </a:xfrm>
          <a:prstGeom prst="rect">
            <a:avLst/>
          </a:prstGeom>
          <a:solidFill>
            <a:srgbClr val="1A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38360" y="23774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43%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789920" y="2377440"/>
            <a:ext cx="1737360" cy="502920"/>
          </a:xfrm>
          <a:prstGeom prst="rect">
            <a:avLst/>
          </a:prstGeom>
          <a:solidFill>
            <a:srgbClr val="1A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5640" y="237744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FB950"/>
                </a:solidFill>
                <a:latin typeface="Calibri"/>
              </a:rPr>
              <a:t>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21040" y="2880360"/>
            <a:ext cx="1371600" cy="502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288036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Backlog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92640" y="2880360"/>
            <a:ext cx="1097280" cy="502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38360" y="288036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Present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789920" y="2880360"/>
            <a:ext cx="1737360" cy="502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5640" y="288036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None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754880"/>
            <a:ext cx="11612880" cy="731520"/>
          </a:xfrm>
          <a:prstGeom prst="rect">
            <a:avLst/>
          </a:prstGeom>
          <a:solidFill>
            <a:srgbClr val="0D2A4A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480060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alibri"/>
              </a:rPr>
              <a:t>DSP thread runs at SCHED_FIFO priority. Ring buffer hands off PCM — no shared state, no mutex on the hot path.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Blue Sky (Team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B949E"/>
                </a:solidFill>
                <a:latin typeface="Calibri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02 /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6EDF3"/>
                </a:solidFill>
                <a:latin typeface="Calibri"/>
              </a:rPr>
              <a:t>Module View: 4-Layer Allowed-to-Use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8A6FF"/>
                </a:solidFill>
                <a:latin typeface="Calibri"/>
              </a:rPr>
              <a:t>QAS-4 Extensibility / Modifiability</a:t>
            </a:r>
          </a:p>
        </p:txBody>
      </p:sp>
      <p:pic>
        <p:nvPicPr>
          <p:cNvPr id="7" name="Picture 6" descr="view1-layered-mo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943600" cy="4572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492240" y="1371600"/>
            <a:ext cx="5394960" cy="502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3716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FB950"/>
                </a:solidFill>
                <a:latin typeface="Calibri"/>
              </a:rPr>
              <a:t>• 14 graph tabs implemented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965960"/>
            <a:ext cx="5394960" cy="502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6596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FB950"/>
                </a:solidFill>
                <a:latin typeface="Calibri"/>
              </a:rPr>
              <a:t>• 0 layer violations at compile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2560320"/>
            <a:ext cx="5394960" cy="502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56032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FB950"/>
                </a:solidFill>
                <a:latin typeface="Calibri"/>
              </a:rPr>
              <a:t>• ≤ 3 files per new tab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33756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W2 S1 (11 tabs): TraceDisplay · VarioDisplay · BeatErrorTrace · BeatNoiseScope · WatchPosition · MultiPosition · LongTerm · EscapementAnalyzer · TimeFreqSpectrogram · WaveformComparison · RateScope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5262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W2 S2 (+2): FilterScope · SweepScope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9377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883E"/>
                </a:solidFill>
                <a:latin typeface="Calibri"/>
              </a:rPr>
              <a:t>W3 S1 Bonus (+1): RadarChart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Blue Sky (Team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B949E"/>
                </a:solidFill>
                <a:latin typeface="Calibri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02 /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6EDF3"/>
                </a:solidFill>
                <a:latin typeface="Calibri"/>
              </a:rPr>
              <a:t>IAudioSource &amp; BaseGraphTab Observer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5156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8A6FF"/>
                </a:solidFill>
                <a:latin typeface="Calibri"/>
              </a:rPr>
              <a:t>IAudioSource (ADR-005)</a:t>
            </a:r>
          </a:p>
        </p:txBody>
      </p:sp>
      <p:pic>
        <p:nvPicPr>
          <p:cNvPr id="7" name="Picture 6" descr="view5-iaudiosou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08760"/>
            <a:ext cx="5669280" cy="3931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55778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B949E"/>
                </a:solidFill>
                <a:latin typeface="Calibri"/>
              </a:rPr>
              <a:t>Adding NetworkWorker: ≤ 2 files changed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05156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8A6FF"/>
                </a:solidFill>
                <a:latin typeface="Calibri"/>
              </a:rPr>
              <a:t>BaseGraphTab Observer (ADR-006)</a:t>
            </a:r>
          </a:p>
        </p:txBody>
      </p:sp>
      <p:pic>
        <p:nvPicPr>
          <p:cNvPr id="10" name="Picture 9" descr="view2b-observer-modu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08760"/>
            <a:ext cx="5669280" cy="3931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0" y="55778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B949E"/>
                </a:solidFill>
                <a:latin typeface="Calibri"/>
              </a:rPr>
              <a:t>All 14 tabs receive identical Measurement struct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Blue Sky (Team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B949E"/>
                </a:solidFill>
                <a:latin typeface="Calibri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03 / Experiments &amp;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6EDF3"/>
                </a:solidFill>
                <a:latin typeface="Calibri"/>
              </a:rPr>
              <a:t>Experiment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914400" cy="384048"/>
          </a:xfrm>
          <a:prstGeom prst="rect">
            <a:avLst/>
          </a:prstGeom>
          <a:solidFill>
            <a:srgbClr val="212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97280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949E"/>
                </a:solidFill>
                <a:latin typeface="Calibri"/>
              </a:rPr>
              <a:t>ID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4440" y="1097280"/>
            <a:ext cx="4114800" cy="384048"/>
          </a:xfrm>
          <a:prstGeom prst="rect">
            <a:avLst/>
          </a:prstGeom>
          <a:solidFill>
            <a:srgbClr val="212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09728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949E"/>
                </a:solidFill>
                <a:latin typeface="Calibri"/>
              </a:rPr>
              <a:t>Question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4960" y="1097280"/>
            <a:ext cx="2926080" cy="384048"/>
          </a:xfrm>
          <a:prstGeom prst="rect">
            <a:avLst/>
          </a:prstGeom>
          <a:solidFill>
            <a:srgbClr val="212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40680" y="109728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949E"/>
                </a:solidFill>
                <a:latin typeface="Calibri"/>
              </a:rPr>
              <a:t>Result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66760" y="1097280"/>
            <a:ext cx="3840480" cy="384048"/>
          </a:xfrm>
          <a:prstGeom prst="rect">
            <a:avLst/>
          </a:prstGeom>
          <a:solidFill>
            <a:srgbClr val="212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097280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949E"/>
                </a:solidFill>
                <a:latin typeface="Calibri"/>
              </a:rPr>
              <a:t>Decision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481328"/>
            <a:ext cx="914400" cy="731520"/>
          </a:xfrm>
          <a:prstGeom prst="rect">
            <a:avLst/>
          </a:prstGeom>
          <a:solidFill>
            <a:srgbClr val="0D1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1527048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EXP-01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34440" y="1481328"/>
            <a:ext cx="4114800" cy="731520"/>
          </a:xfrm>
          <a:prstGeom prst="rect">
            <a:avLst/>
          </a:prstGeom>
          <a:solidFill>
            <a:srgbClr val="0D1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1527048"/>
            <a:ext cx="4023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Rate/Amplitude match WeiShi No.1000?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94960" y="1481328"/>
            <a:ext cx="2926080" cy="731520"/>
          </a:xfrm>
          <a:prstGeom prst="rect">
            <a:avLst/>
          </a:prstGeom>
          <a:solidFill>
            <a:srgbClr val="0D1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40680" y="1527048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FB950"/>
                </a:solidFill>
                <a:latin typeface="Calibri"/>
              </a:rPr>
              <a:t>✓ Validated W5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66760" y="1481328"/>
            <a:ext cx="3840480" cy="731520"/>
          </a:xfrm>
          <a:prstGeom prst="rect">
            <a:avLst/>
          </a:prstGeom>
          <a:solidFill>
            <a:srgbClr val="0D1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1527048"/>
            <a:ext cx="3749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ADR-003 accepted (96kHz)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258568"/>
            <a:ext cx="914400" cy="7315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2304288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EXP-02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34440" y="2258568"/>
            <a:ext cx="4114800" cy="7315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2304288"/>
            <a:ext cx="4023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RPi sustain 96kHz with 0 dropped blocks?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94960" y="2258568"/>
            <a:ext cx="2926080" cy="7315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40680" y="2304288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FB950"/>
                </a:solidFill>
                <a:latin typeface="Calibri"/>
              </a:rPr>
              <a:t>✓ 0 dropped at 48/96/192kHz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66760" y="2258568"/>
            <a:ext cx="3840480" cy="7315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2304288"/>
            <a:ext cx="3749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SCHED_RR not needed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035808"/>
            <a:ext cx="914400" cy="731520"/>
          </a:xfrm>
          <a:prstGeom prst="rect">
            <a:avLst/>
          </a:prstGeom>
          <a:solidFill>
            <a:srgbClr val="0D1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3081528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EXP-03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34440" y="3035808"/>
            <a:ext cx="4114800" cy="731520"/>
          </a:xfrm>
          <a:prstGeom prst="rect">
            <a:avLst/>
          </a:prstGeom>
          <a:solidFill>
            <a:srgbClr val="0D1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0160" y="3081528"/>
            <a:ext cx="4023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E2E latency: capture → display?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94960" y="3035808"/>
            <a:ext cx="2926080" cy="731520"/>
          </a:xfrm>
          <a:prstGeom prst="rect">
            <a:avLst/>
          </a:prstGeom>
          <a:solidFill>
            <a:srgbClr val="0D1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40680" y="3081528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FB950"/>
                </a:solidFill>
                <a:latin typeface="Calibri"/>
              </a:rPr>
              <a:t>✓ 2.05ms avg on RPi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66760" y="3035808"/>
            <a:ext cx="3840480" cy="731520"/>
          </a:xfrm>
          <a:prstGeom prst="rect">
            <a:avLst/>
          </a:prstGeom>
          <a:solidFill>
            <a:srgbClr val="0D1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0" y="3081528"/>
            <a:ext cx="3749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ADR-001 T2 + Ring Buffer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813048"/>
            <a:ext cx="914400" cy="7315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3858768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EXP-04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34440" y="3813048"/>
            <a:ext cx="4114800" cy="7315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80160" y="3858768"/>
            <a:ext cx="4023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Files required to add new tab?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94960" y="3813048"/>
            <a:ext cx="2926080" cy="7315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40680" y="3858768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FB950"/>
                </a:solidFill>
                <a:latin typeface="Calibri"/>
              </a:rPr>
              <a:t>✓ ≤ 3 files, 0 violations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66760" y="3813048"/>
            <a:ext cx="3840480" cy="7315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80" y="3858768"/>
            <a:ext cx="3749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ADR-006 Observer validated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590288"/>
            <a:ext cx="914400" cy="731520"/>
          </a:xfrm>
          <a:prstGeom prst="rect">
            <a:avLst/>
          </a:prstGeom>
          <a:solidFill>
            <a:srgbClr val="0D1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4636008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EXP-05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34440" y="4590288"/>
            <a:ext cx="4114800" cy="731520"/>
          </a:xfrm>
          <a:prstGeom prst="rect">
            <a:avLst/>
          </a:prstGeom>
          <a:solidFill>
            <a:srgbClr val="0D1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80160" y="4636008"/>
            <a:ext cx="4023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14-tab FPS on RPi — deadline miss?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94960" y="4590288"/>
            <a:ext cx="2926080" cy="731520"/>
          </a:xfrm>
          <a:prstGeom prst="rect">
            <a:avLst/>
          </a:prstGeom>
          <a:solidFill>
            <a:srgbClr val="0D1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40680" y="4636008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FB950"/>
                </a:solidFill>
                <a:latin typeface="Calibri"/>
              </a:rPr>
              <a:t>✓ Within budget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66760" y="4590288"/>
            <a:ext cx="3840480" cy="731520"/>
          </a:xfrm>
          <a:prstGeom prst="rect">
            <a:avLst/>
          </a:prstGeom>
          <a:solidFill>
            <a:srgbClr val="0D1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12480" y="4636008"/>
            <a:ext cx="3749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ADR-004 on standby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Blue Sky (Team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B949E"/>
                </a:solidFill>
                <a:latin typeface="Calibr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03 / Experiments &amp;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6EDF3"/>
                </a:solidFill>
                <a:latin typeface="Calibri"/>
              </a:rPr>
              <a:t>Key Performance Numbers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577840" cy="2194560"/>
          </a:xfrm>
          <a:prstGeom prst="rect">
            <a:avLst/>
          </a:prstGeom>
          <a:solidFill>
            <a:srgbClr val="161B22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3FB950"/>
                </a:solidFill>
                <a:latin typeface="Calibri"/>
              </a:rPr>
              <a:t>0.03 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EDF3"/>
                </a:solidFill>
                <a:latin typeface="Calibri"/>
              </a:rPr>
              <a:t>DSP queue wait (avg)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  <a:latin typeface="Calibri"/>
              </a:rPr>
              <a:t>Down from 77.4 ms  ·  ×2,600 improvement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188720"/>
            <a:ext cx="5577840" cy="2194560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32588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58A6FF"/>
                </a:solidFill>
                <a:latin typeface="Calibri"/>
              </a:rPr>
              <a:t>2.05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2402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EDF3"/>
                </a:solidFill>
                <a:latin typeface="Calibri"/>
              </a:rPr>
              <a:t>End-to-end latency (RPi avg)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7432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  <a:latin typeface="Calibri"/>
              </a:rPr>
              <a:t>Capture → DSP → GUI update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566160"/>
            <a:ext cx="5577840" cy="2194560"/>
          </a:xfrm>
          <a:prstGeom prst="rect">
            <a:avLst/>
          </a:prstGeom>
          <a:solidFill>
            <a:srgbClr val="161B22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70332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3FB950"/>
                </a:solidFill>
                <a:latin typeface="Calibri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617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EDF3"/>
                </a:solidFill>
                <a:latin typeface="Calibri"/>
              </a:rPr>
              <a:t>Dropped audio blocks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1206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  <a:latin typeface="Calibri"/>
              </a:rPr>
              <a:t>At 96kHz over 10-minute session on RPi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3566160"/>
            <a:ext cx="5577840" cy="2194560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370332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58A6FF"/>
                </a:solidFill>
                <a:latin typeface="Calibri"/>
              </a:rPr>
              <a:t>142 / 142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617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EDF3"/>
                </a:solidFill>
                <a:latin typeface="Calibri"/>
              </a:rPr>
              <a:t>Unit tests passing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51206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  <a:latin typeface="Calibri"/>
              </a:rPr>
              <a:t>10 test binaries  ·  0 failures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59893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FB950"/>
                </a:solidFill>
                <a:latin typeface="Calibri"/>
              </a:rPr>
              <a:t>Target: E2E &lt; 100ms ✓   Deadline miss: 0% ✓   96kHz sustained 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Blue Sky (Team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B949E"/>
                </a:solidFill>
                <a:latin typeface="Calibr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03 / Experiments &amp;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6EDF3"/>
                </a:solidFill>
                <a:latin typeface="Calibri"/>
              </a:rPr>
              <a:t>Architecture Evaluation — ATAM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8A6FF"/>
                </a:solidFill>
                <a:latin typeface="Calibri"/>
              </a:rPr>
              <a:t>Architecture Tradeoff Analysis Method (SEI)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3657600" cy="41148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117"/>
                </a:solidFill>
                <a:latin typeface="Calibri"/>
              </a:rPr>
              <a:t>Sensitivity Points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783080"/>
            <a:ext cx="3657600" cy="4572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874519"/>
            <a:ext cx="3520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SP-1  DSP thread location → wait_ms 0.03ms↔77ms
SP-2  isVisible() guard → bottleneck if removed
SP-3  48kHz halves Beat Error resolution
SP-4  Measurement struct must stay immutable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371600"/>
            <a:ext cx="3657600" cy="41148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3716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117"/>
                </a:solidFill>
                <a:latin typeface="Calibri"/>
              </a:rPr>
              <a:t>Confirmed Non-Risks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783080"/>
            <a:ext cx="3657600" cy="4572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874519"/>
            <a:ext cx="3520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✓ T2 thread removes queue wait (EXP-03)
✓ 96kHz sustainable on RPi (EXP-02)
✓ Lazy rendering: -85% render calls (EXP-03)
✓ 14 tabs each ≤ 3 files (EXP-04)
✓ 142 unit tests all pass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3657600" cy="4114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3716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117"/>
                </a:solidFill>
                <a:latin typeface="Calibri"/>
              </a:rPr>
              <a:t>Resolved Risk Themes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783080"/>
            <a:ext cx="3657600" cy="4572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874519"/>
            <a:ext cx="3520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✓ Theme 1 RESOLVED
  Rendering-Audio Coupling
  ADR-001+002 → miss 43%→0%
✓ Theme 2 RESOLVED
  WeiShi accuracy gap
  EXP-01 validated W5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Blue Sky (Team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B949E"/>
                </a:solidFill>
                <a:latin typeface="Calibri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04 / Use of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6EDF3"/>
                </a:solidFill>
                <a:latin typeface="Calibri"/>
              </a:rPr>
              <a:t>How We Used AI in Development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502920" cy="50292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1887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FB950"/>
                </a:solidFill>
                <a:latin typeface="Calibri"/>
              </a:rPr>
              <a:t>Unit Test Generation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alibri"/>
              </a:rPr>
              <a:t>142 tests across 10 binaries. Domain math (Rate/Amplitude/Beat Error) verified without equation-level expertise. NTR-07 domain gap addressed.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606040"/>
            <a:ext cx="502920" cy="5029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5146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8A6FF"/>
                </a:solidFill>
                <a:latin typeface="Calibri"/>
              </a:rPr>
              <a:t>Architecture Design &amp;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92608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alibri"/>
              </a:rPr>
              <a:t>Threading (T1/T2/T3) and rendering (R1/R2/R3) options evaluated via AI dialogue. ADR rationale stress-tested against tradeoff scenarios.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931920"/>
            <a:ext cx="502920" cy="5029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8404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8A6FF"/>
                </a:solidFill>
                <a:latin typeface="Calibri"/>
              </a:rPr>
              <a:t>Debugging &amp; Code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25196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alibri"/>
              </a:rPr>
              <a:t>isVisible()+processEvents() fix diagnosed with AI. Ring buffer sizing and Qt signal/slot thread safety analysis assisted by AI.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5257799"/>
            <a:ext cx="502920" cy="50292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166359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883E"/>
                </a:solidFill>
                <a:latin typeface="Calibri"/>
              </a:rPr>
              <a:t>Limitations &amp; Risks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577839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alibri"/>
              </a:rPr>
              <a:t>Tests required manual review for correctness assumptions. No hardware access — RPi performance required physical measurement. Hallucination risk on domain equations.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Blue Sky (Team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B949E"/>
                </a:solidFill>
                <a:latin typeface="Calibri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04 / Use of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6EDF3"/>
                </a:solidFill>
                <a:latin typeface="Calibri"/>
              </a:rPr>
              <a:t>AI Feature: On-Device Watch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7132320" cy="1005840"/>
          </a:xfrm>
          <a:prstGeom prst="rect">
            <a:avLst/>
          </a:prstGeom>
          <a:solidFill>
            <a:srgbClr val="0D2A4A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4300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6EDF3"/>
                </a:solidFill>
                <a:latin typeface="Calibri"/>
              </a:rPr>
              <a:t>Domain experts identify watch condition from Rate, Amplitude, and Beat Error — a skill that takes years. Can we automate preliminary diagnosis?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240280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FB950"/>
                </a:solidFill>
                <a:latin typeface="Calibri"/>
              </a:rPr>
              <a:t>Solution: Rule-based + ML classifier on Raspberry Pi 5 (ONNX, fully offline)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  <a:latin typeface="Calibri"/>
              </a:rPr>
              <a:t>• Classifies condition: Good / Needs Adjustment / Worn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3756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  <a:latin typeface="Calibri"/>
              </a:rPr>
              <a:t>• Flags anomalies: high Beat Error, amplitude drop, rate drift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319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  <a:latin typeface="Calibri"/>
              </a:rPr>
              <a:t>• Provides human-readable explanation per diagnosis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262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  <a:latin typeface="Calibri"/>
              </a:rPr>
              <a:t>• &lt; 50ms inference on RPi 5 — no network required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1097280"/>
            <a:ext cx="4114800" cy="41148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12801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  <a:latin typeface="Calibri"/>
              </a:rPr>
              <a:t>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1280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alibri"/>
              </a:rPr>
              <a:t>Validated in live demo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20574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  <a:latin typeface="Calibri"/>
              </a:rPr>
              <a:t>Latency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057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alibri"/>
              </a:rPr>
              <a:t>&lt; 50ms inference on RPi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2834639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  <a:latin typeface="Calibri"/>
              </a:rP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8346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alibri"/>
              </a:rPr>
              <a:t>ONNX — no Python runtime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3611879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  <a:latin typeface="Calibri"/>
              </a:rPr>
              <a:t>Mode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6118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alibri"/>
              </a:rPr>
              <a:t>Fully offline, on-device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45720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B949E"/>
                </a:solidFill>
                <a:latin typeface="Calibri"/>
              </a:rPr>
              <a:t>→  Live demonstration follows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Blue Sky (Team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B949E"/>
                </a:solidFill>
                <a:latin typeface="Calibri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05 / Lessons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6EDF3"/>
                </a:solidFill>
                <a:latin typeface="Calibri"/>
              </a:rPr>
              <a:t>What Went Well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02920" cy="50292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887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117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FB950"/>
                </a:solidFill>
                <a:latin typeface="Calibri"/>
              </a:rPr>
              <a:t>Experiment-driven architecture decisions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alibri"/>
              </a:rPr>
              <a:t>EXP-03 confirmed 43%→0% improvement the same day ADR-001 was implemented. Short feedback loops prevented wasted design work.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514600"/>
            <a:ext cx="502920" cy="50292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514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117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5146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FB950"/>
                </a:solidFill>
                <a:latin typeface="Calibri"/>
              </a:rPr>
              <a:t>4-Layer structure eliminated regression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92608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alibri"/>
              </a:rPr>
              <a:t>Compile-time boundary enforcement. The ≤ 3-file constraint held for all 14 tabs — zero coupling surprises.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840480"/>
            <a:ext cx="502920" cy="50292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38404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117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8404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FB950"/>
                </a:solidFill>
                <a:latin typeface="Calibri"/>
              </a:rPr>
              <a:t>AI unit tests solved the domain knowledge gap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25196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alibri"/>
              </a:rPr>
              <a:t>NTR-07 (equation verification requires watch expertise) mitigated: 142 tests protect domain math without manual derivation.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166359"/>
            <a:ext cx="502920" cy="50292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516635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117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166359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FB950"/>
                </a:solidFill>
                <a:latin typeface="Calibri"/>
              </a:rPr>
              <a:t>ADR + QA + Experiment traceability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577839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alibri"/>
              </a:rPr>
              <a:t>Every architecture decision links to a QA scenario, experiment, and risk. No undocumented choices.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Blue Sky (Team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B949E"/>
                </a:solidFill>
                <a:latin typeface="Calibri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05 / Lessons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6EDF3"/>
                </a:solidFill>
                <a:latin typeface="Calibri"/>
              </a:rPr>
              <a:t>What We'd Do Differently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02920" cy="50292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887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117"/>
                </a:solidFill>
                <a:latin typeface="Calibri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883E"/>
                </a:solidFill>
                <a:latin typeface="Calibri"/>
              </a:rPr>
              <a:t>Start WeiShi validation earlier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alibri"/>
              </a:rPr>
              <a:t>QAS-1 (Measurement Accuracy) is the governing goal — but hardware comparison was scheduled last. Next time: validate the top-priority QA first, before structural work.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651760"/>
            <a:ext cx="502920" cy="50292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651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117"/>
                </a:solidFill>
                <a:latin typeface="Calibri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517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883E"/>
                </a:solidFill>
                <a:latin typeface="Calibri"/>
              </a:rPr>
              <a:t>Schedule EXP-05 earlier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632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alibri"/>
              </a:rPr>
              <a:t>14-tab FPS test on RPi deferred to W4. ADR-004 remained unconfirmed until the final week. Plan: run full-load experiments in parallel with implementation.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114800"/>
            <a:ext cx="502920" cy="50292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41148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117"/>
                </a:solidFill>
                <a:latin typeface="Calibri"/>
              </a:rPr>
              <a:t>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1148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883E"/>
                </a:solidFill>
                <a:latin typeface="Calibri"/>
              </a:rPr>
              <a:t>Stress-test ring buffer depth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5262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alibri"/>
              </a:rPr>
              <a:t>Set conservatively without a soak test. ATAM flagged this as R-2. A 30-minute RPi stress test would have given early confidence in the sizing.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669280"/>
            <a:ext cx="11612880" cy="777240"/>
          </a:xfrm>
          <a:prstGeom prst="rect">
            <a:avLst/>
          </a:prstGeom>
          <a:solidFill>
            <a:srgbClr val="0D2A4A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7607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6EDF3"/>
                </a:solidFill>
                <a:latin typeface="Calibri"/>
              </a:rPr>
              <a:t>Key principle: Validate the highest-priority QA (Accuracy) first — not last.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